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06000"/>
            <a:ext cx="108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4336B"/>
                </a:solidFill>
                <a:latin typeface="맑은 고딕"/>
              </a:rPr>
              <a:t>04 핵심 기술 및 구현  ·  B. 개발 과정 및 구현 결과  ·  조치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76000"/>
            <a:ext cx="108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4336B"/>
                </a:solidFill>
                <a:latin typeface="맑은 고딕"/>
              </a:rPr>
              <a:t>판단과 실행의 분리 — 물리 장비가 붙을 자리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06000"/>
            <a:ext cx="11124000" cy="378000"/>
          </a:xfrm>
          <a:prstGeom prst="rect">
            <a:avLst/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기존: 판단 결과를 화면 상태에 직접 대입 → 실패를 표현할 수 없고, PTZ·Video Wall을 끼워 넣을 자리가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390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AA5B1"/>
                </a:solidFill>
                <a:latin typeface="맑은 고딕"/>
              </a:rPr>
              <a:t>대한민국 공군 · VOICE-CUE · 팀 작비스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0" y="6390000"/>
            <a:ext cx="194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9AA5B1"/>
                </a:solidFill>
                <a:latin typeface="맑은 고딕"/>
              </a:rPr>
              <a:t>24 /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1. 발언 입력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64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2. 상황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28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3. 조치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792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4. 장비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6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5. 결과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232000"/>
            <a:ext cx="54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6DB4"/>
                </a:solidFill>
                <a:latin typeface="맑은 고딕"/>
              </a:rPr>
              <a:t>문제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4660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대입은 실패할 수 없다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cop_layout = layout — “띄우라 했는데 안 떴다”를 표현할 방법이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999" y="2628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1968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장비 연동 지점이 없다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판단 코드 한복판에 하드웨어 호출을 끼워 넣는 것 외 방법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999" y="3358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39276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조치가 하나로 뭉개진다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화면 표출과 카메라 지향은 서로 다른 장비의 조치인데 구분 불가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999" y="4089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8000" y="2232000"/>
            <a:ext cx="54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6DB4"/>
                </a:solidFill>
                <a:latin typeface="맑은 고딕"/>
              </a:rPr>
              <a:t>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8000" y="2484000"/>
            <a:ext cx="5436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판단 결과 → Action 목록으로 변환 (무엇을·왜)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ActionBus가 조치를 지원하는 Actuator에게 위임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결과는 수행 / 미연동 / 실패 세 가지로 구분해 보고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actions.py는 streamlit 비의존 — 실행 주체가 화면일 필요 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8000" y="3744000"/>
            <a:ext cx="5436000" cy="226800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tIns="162000" rIns="108000"/>
          <a:lstStyle/>
          <a:p>
            <a:pPr>
              <a:lnSpc>
                <a:spcPct val="135000"/>
              </a:lnSpc>
            </a:pPr>
            <a:r>
              <a:rPr sz="1000">
                <a:solidFill>
                  <a:srgbClr val="8FA8C2"/>
                </a:solidFill>
                <a:latin typeface="Consolas"/>
              </a:rPr>
              <a:t>@dataclass(frozen=True)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class Action: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8FA8C2"/>
                </a:solidFill>
                <a:latin typeface="Consolas"/>
              </a:rPr>
              <a:t>    kind: str        # 화면구성 | 카메라지향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payload: dict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8FA8C2"/>
                </a:solidFill>
                <a:latin typeface="Consolas"/>
              </a:rPr>
              <a:t>    reason: str      # 근거 없는 조치는 만들지 않는다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class Actuator(Protocol):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def supports(self, kind) -&gt; bool: ...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def execute(self, action) -&gt; ActionResult: 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06000"/>
            <a:ext cx="108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4336B"/>
                </a:solidFill>
                <a:latin typeface="맑은 고딕"/>
              </a:rPr>
              <a:t>04 핵심 기술 및 구현  ·  B. 개발 과정 및 구현 결과  ·  조치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76000"/>
            <a:ext cx="108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4336B"/>
                </a:solidFill>
                <a:latin typeface="맑은 고딕"/>
              </a:rPr>
              <a:t>하나의 판단 → 서로 다른 장비의 조치로 분기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06000"/>
            <a:ext cx="11124000" cy="378000"/>
          </a:xfrm>
          <a:prstGeom prst="rect">
            <a:avLst/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“북서 CCTV를 띄운다”는 결정은 실제 지휘소에서 ① 벽면 표출 ② 그 카메라 지향, 두 장비에 대한 두 조치다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390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AA5B1"/>
                </a:solidFill>
                <a:latin typeface="맑은 고딕"/>
              </a:rPr>
              <a:t>대한민국 공군 · VOICE-CUE · 팀 작비스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0" y="6390000"/>
            <a:ext cx="194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9AA5B1"/>
                </a:solidFill>
                <a:latin typeface="맑은 고딕"/>
              </a:rPr>
              <a:t>25 /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1. 발언 입력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64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2. 상황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28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3. 조치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792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4. 장비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6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5. 결과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232000"/>
            <a:ext cx="54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6DB4"/>
                </a:solidFill>
                <a:latin typeface="맑은 고딕"/>
              </a:rPr>
              <a:t>생성되는 조치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4660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화면구성 × 1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확정된 6개 패널을 벽면에 표출 — 현재 구현체: Streamlit 화면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999" y="2628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1968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카메라지향 × N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배치에 포함된 CCTV·열상·이동형 카메라를 해당 지점으로 지향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999" y="3358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39276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지원 주체 없는 조치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조용히 사라지지 않고 ‘미연동’ 결과로 남긴다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999" y="4089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8000" y="2232000"/>
            <a:ext cx="54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6DB4"/>
                </a:solidFill>
                <a:latin typeface="맑은 고딕"/>
              </a:rPr>
              <a:t>실행 결과 (실측)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8000" y="2484000"/>
            <a:ext cx="5436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“북서방 무인기 2대 식별” → 조치 2건 생성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미연동을 성공으로 보고하지 않는다 — 시연에서 카메라가 실제로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   움직인다고 오해하게 만들지 않기 위한 설계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8000" y="3600000"/>
            <a:ext cx="5436000" cy="241200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tIns="162000" rIns="108000"/>
          <a:lstStyle/>
          <a:p>
            <a:pPr>
              <a:lnSpc>
                <a:spcPct val="130000"/>
              </a:lnSpc>
            </a:pPr>
            <a:r>
              <a:rPr sz="1100" b="1">
                <a:solidFill>
                  <a:srgbClr val="E4EEF7"/>
                </a:solidFill>
                <a:latin typeface="맑은 고딕"/>
              </a:rPr>
              <a:t>조치 실행 결과 — 수행 1 · 미연동 1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8FA8C2"/>
                </a:solidFill>
                <a:latin typeface="맑은 고딕"/>
              </a:rPr>
              <a:t/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1E8A5F"/>
                </a:solidFill>
                <a:latin typeface="맑은 고딕"/>
              </a:rPr>
              <a:t>● 화면구성 · 패널 6개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8FA8C2"/>
                </a:solidFill>
                <a:latin typeface="맑은 고딕"/>
              </a:rPr>
              <a:t>   6개 화면을 벽면에 표출했습니다.</a:t>
            </a:r>
          </a:p>
          <a:p>
            <a:pPr>
              <a:lnSpc>
                <a:spcPct val="130000"/>
              </a:lnSpc>
            </a:pPr>
            <a:r>
              <a:rPr sz="400" b="0">
                <a:solidFill>
                  <a:srgbClr val="8FA8C2"/>
                </a:solidFill>
                <a:latin typeface="맑은 고딕"/>
              </a:rPr>
              <a:t/>
            </a:r>
          </a:p>
          <a:p>
            <a:pPr>
              <a:lnSpc>
                <a:spcPct val="130000"/>
              </a:lnSpc>
            </a:pPr>
            <a:r>
              <a:rPr sz="1050" b="1">
                <a:solidFill>
                  <a:srgbClr val="C27A1B"/>
                </a:solidFill>
                <a:latin typeface="맑은 고딕"/>
              </a:rPr>
              <a:t>● 카메라지향 · 북서 열상감시장비(TOD)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8FA8C2"/>
                </a:solidFill>
                <a:latin typeface="맑은 고딕"/>
              </a:rPr>
              <a:t>   지향 대상으로 선정됐으나 카메라 제어 장비가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8FA8C2"/>
                </a:solidFill>
                <a:latin typeface="맑은 고딕"/>
              </a:rPr>
              <a:t>   연동되지 않아 수행하지 않았습니다.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306000"/>
            <a:ext cx="108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4336B"/>
                </a:solidFill>
                <a:latin typeface="맑은 고딕"/>
              </a:rPr>
              <a:t>04 핵심 기술 및 구현  ·  B. 개발 과정 및 구현 결과  ·  조치 계층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576000"/>
            <a:ext cx="1080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4336B"/>
                </a:solidFill>
                <a:latin typeface="맑은 고딕"/>
              </a:rPr>
              <a:t>실장비 연결 — 구현체 하나를 추가하면 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206000"/>
            <a:ext cx="11124000" cy="378000"/>
          </a:xfrm>
          <a:prstGeom prst="rect">
            <a:avLst/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rIns="180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부대에 Video Wall·PTZ가 있으면 Actuator를 구현해 등록한다. 판단 코드는 한 줄도 바뀌지 않는다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390000"/>
            <a:ext cx="72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9AA5B1"/>
                </a:solidFill>
                <a:latin typeface="맑은 고딕"/>
              </a:rPr>
              <a:t>대한민국 공군 · VOICE-CUE · 팀 작비스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0" y="6390000"/>
            <a:ext cx="1944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9AA5B1"/>
                </a:solidFill>
                <a:latin typeface="맑은 고딕"/>
              </a:rPr>
              <a:t>26 /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1. 발언 입력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64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2. 상황 판단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28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3. 조치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792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EEF2F7"/>
          </a:solidFill>
          <a:ln w="9525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0">
                <a:solidFill>
                  <a:srgbClr val="6B7684"/>
                </a:solidFill>
                <a:latin typeface="맑은 고딕"/>
              </a:rPr>
              <a:t>4. 장비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25600" y="1710000"/>
            <a:ext cx="2138400" cy="342000"/>
          </a:xfrm>
          <a:prstGeom prst="roundRect">
            <a:avLst>
              <a:gd name="adj" fmla="val 35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5. 결과 보고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232000"/>
            <a:ext cx="54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6DB4"/>
                </a:solidFill>
                <a:latin typeface="맑은 고딕"/>
              </a:rPr>
              <a:t>확장 절차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4660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Actuator 구현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supports(kind)와 execute(action) 두 메서드만 채우면 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999" y="2628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0000" y="31968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버스 앞쪽에 등록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먼저 등록된 주체가 우선 — 실장비가 스텁을 자동으로 밀어낸다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999" y="3358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3927600"/>
            <a:ext cx="5112000" cy="630000"/>
          </a:xfrm>
          <a:prstGeom prst="roundRect">
            <a:avLst>
              <a:gd name="adj" fmla="val 12000"/>
            </a:avLst>
          </a:prstGeom>
          <a:solidFill>
            <a:srgbClr val="143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22000" rIns="108000"/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판단 코드 수정 없음</a:t>
            </a:r>
          </a:p>
          <a:p>
            <a:pPr>
              <a:lnSpc>
                <a:spcPct val="115000"/>
              </a:lnSpc>
            </a:pPr>
            <a:r>
              <a:rPr sz="900">
                <a:solidFill>
                  <a:srgbClr val="B8C9E0"/>
                </a:solidFill>
                <a:latin typeface="맑은 고딕"/>
              </a:rPr>
              <a:t>context_memory·playbook·prompts 어느 것도 건드리지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999" y="4089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0D2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8000" y="2232000"/>
            <a:ext cx="5436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E6DB4"/>
                </a:solidFill>
                <a:latin typeface="맑은 고딕"/>
              </a:rPr>
              <a:t>검증 — 6항목 통과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8000" y="2484000"/>
            <a:ext cx="5436000" cy="14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가짜 PTZ 구현체 등록 → 스텁을 실제로 대체하는지 확인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장비가 예외를 던져도 회의 진행이 멈추지 않는지 확인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지원 주체 없는 조치가 결과로 남는지 확인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 미연동(skipped)과 실패(ok=False)가 구분되는지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8000" y="3960000"/>
            <a:ext cx="5436000" cy="2052000"/>
          </a:xfrm>
          <a:prstGeom prst="roundRect">
            <a:avLst>
              <a:gd name="adj" fmla="val 5000"/>
            </a:avLst>
          </a:prstGeom>
          <a:solidFill>
            <a:srgbClr val="182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tIns="162000" rIns="108000"/>
          <a:lstStyle/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class 부대PTZ컨트롤러: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name = "PTZ 제어"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def supports(self, kind):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    return kind == CAMERA_AIM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def execute(self, action):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    rest_api.aim(action.payload["source_id"])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>        return ActionResult(action, ok=True, ...)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4EEF7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8FA8C2"/>
                </a:solidFill>
                <a:latin typeface="Consolas"/>
              </a:rPr>
              <a:t>ActionBus([WallActuator(), 부대PTZ컨트롤러()])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